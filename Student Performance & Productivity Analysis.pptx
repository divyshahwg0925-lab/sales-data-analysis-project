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E657D-954C-E711-160E-44AFB6BDEE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FE4E04-38A5-7836-B483-8B337C997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06F9033-CA89-7F12-269B-51E29F7A8029}"/>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5" name="Footer Placeholder 4">
            <a:extLst>
              <a:ext uri="{FF2B5EF4-FFF2-40B4-BE49-F238E27FC236}">
                <a16:creationId xmlns:a16="http://schemas.microsoft.com/office/drawing/2014/main" id="{9F542DE4-3DCA-822B-C691-CC8839AFB7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6A19D9-8D6C-F129-2300-5EEF8B6D3E5D}"/>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416087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5E37A-C5F1-724A-6CEE-D7A2CECF9E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CD0043-8BB4-2D58-D242-4750C2F43F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0558-8A81-A17D-2FED-99E9587CBB6B}"/>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5" name="Footer Placeholder 4">
            <a:extLst>
              <a:ext uri="{FF2B5EF4-FFF2-40B4-BE49-F238E27FC236}">
                <a16:creationId xmlns:a16="http://schemas.microsoft.com/office/drawing/2014/main" id="{F624FD79-0C55-94BE-9903-D83AE2C59B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D9CBF6-FCF6-B9FD-F455-1D8FBC0E3304}"/>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4087914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0FCF8-CC94-DF6A-0D5D-0ECD8BDE96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B33406-3395-131E-8E4D-90B15D22A4C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186E12-BE46-1A2F-BBCD-CF57CCF2E6F8}"/>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5" name="Footer Placeholder 4">
            <a:extLst>
              <a:ext uri="{FF2B5EF4-FFF2-40B4-BE49-F238E27FC236}">
                <a16:creationId xmlns:a16="http://schemas.microsoft.com/office/drawing/2014/main" id="{B0A0D9D9-99C4-E652-BE70-3B2C8EF24A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34013B-C91C-A3C2-D038-45D8A84986EC}"/>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227313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F355-5D16-0A6E-3624-EF3E01874C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721AC8-B20E-DC00-619F-66B9D041D7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E31E62-1FAA-99E6-DF1B-851A2AA5D9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377AA95-8A35-B0AF-EE10-F7536BB61976}"/>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6" name="Footer Placeholder 5">
            <a:extLst>
              <a:ext uri="{FF2B5EF4-FFF2-40B4-BE49-F238E27FC236}">
                <a16:creationId xmlns:a16="http://schemas.microsoft.com/office/drawing/2014/main" id="{547CA146-71C8-3B7B-9280-ACF2535EBB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64026F-C145-F8AD-00AE-B6642971E1AA}"/>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167766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5D8E2-3E27-00BD-8E6E-8C1EBBF6A5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DBC895-2670-B290-44F6-2F58F0CD02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FB1A53-CAEA-33C1-1AAB-307C3991C1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74EE31-714F-7EAF-06CF-C931A4F2E3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D6B1EE-ED0E-BC2A-5C82-430A8DE025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3C527C5-BCB0-107A-1488-48ED870242F5}"/>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8" name="Footer Placeholder 7">
            <a:extLst>
              <a:ext uri="{FF2B5EF4-FFF2-40B4-BE49-F238E27FC236}">
                <a16:creationId xmlns:a16="http://schemas.microsoft.com/office/drawing/2014/main" id="{B5902891-7F3C-1EB4-77CC-E6FFA8C194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EFFFF46-532A-A183-DC8C-BBFFCEC3387E}"/>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1743941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25433-5126-545A-F1B7-201821BCB4A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B4154F-87C6-78CF-3FE6-1D54410CD89D}"/>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4" name="Footer Placeholder 3">
            <a:extLst>
              <a:ext uri="{FF2B5EF4-FFF2-40B4-BE49-F238E27FC236}">
                <a16:creationId xmlns:a16="http://schemas.microsoft.com/office/drawing/2014/main" id="{838C3019-B5F1-1DF3-6643-FEA6AF1BB19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C25991E-26E8-2176-A609-CF49D60CE634}"/>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1139036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573560-B851-11F5-D0F8-ACB8B427F1AE}"/>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3" name="Footer Placeholder 2">
            <a:extLst>
              <a:ext uri="{FF2B5EF4-FFF2-40B4-BE49-F238E27FC236}">
                <a16:creationId xmlns:a16="http://schemas.microsoft.com/office/drawing/2014/main" id="{30D8D704-A6CE-27FE-D31B-935563E9583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7CFA22-AC1A-6635-D1BB-43E4B9236D91}"/>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3356206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9F464-51C3-08BA-5F7F-587FB29C3B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98685F4-AE2D-A20E-5F7B-6F111189BA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E1BCFDB-98B6-2682-DBE7-3B5B7BCDAF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684B52-814B-C04F-89D4-824E88103197}"/>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6" name="Footer Placeholder 5">
            <a:extLst>
              <a:ext uri="{FF2B5EF4-FFF2-40B4-BE49-F238E27FC236}">
                <a16:creationId xmlns:a16="http://schemas.microsoft.com/office/drawing/2014/main" id="{ECEDDDC9-8AC6-25DD-8B8D-A46B80784F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9323BD-E4D3-F301-F46B-15F535419507}"/>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2627224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27B25-78A7-72A3-A8E0-60637BDA0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D6D1C0-0856-DF34-D7F2-7FC04A097D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B35385-8E2B-971F-E15A-BBF10D82DB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73C88C-A21F-EC16-F57B-7AA24DA6483E}"/>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6" name="Footer Placeholder 5">
            <a:extLst>
              <a:ext uri="{FF2B5EF4-FFF2-40B4-BE49-F238E27FC236}">
                <a16:creationId xmlns:a16="http://schemas.microsoft.com/office/drawing/2014/main" id="{8A97D56E-461A-3374-6193-0758C122AC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AE5437-7B97-0B08-5E46-CEDAD3038A08}"/>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2668347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31777-25DD-9198-92D8-903D52EB4C6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6BEBDC-2147-259E-8B6B-8D1FFD83BB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E78512-0D38-C879-47BF-18D322042AC9}"/>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5" name="Footer Placeholder 4">
            <a:extLst>
              <a:ext uri="{FF2B5EF4-FFF2-40B4-BE49-F238E27FC236}">
                <a16:creationId xmlns:a16="http://schemas.microsoft.com/office/drawing/2014/main" id="{59E0E1DE-B415-52DC-1F85-298906CC7F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BE3917-C31E-E820-1C56-1BEAD73CA797}"/>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3655377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721762-1CDE-6618-994F-922E1A12B0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ABB0B1-4A43-324E-DF17-627FC01942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8EB688-BC6F-758E-5231-D6CA01496E16}"/>
              </a:ext>
            </a:extLst>
          </p:cNvPr>
          <p:cNvSpPr>
            <a:spLocks noGrp="1"/>
          </p:cNvSpPr>
          <p:nvPr>
            <p:ph type="dt" sz="half" idx="10"/>
          </p:nvPr>
        </p:nvSpPr>
        <p:spPr/>
        <p:txBody>
          <a:bodyPr/>
          <a:lstStyle/>
          <a:p>
            <a:fld id="{B6B28F88-B9E8-4D22-8C1A-3EF1E2DC6C60}" type="datetimeFigureOut">
              <a:rPr lang="en-IN" smtClean="0"/>
              <a:t>17-02-2026</a:t>
            </a:fld>
            <a:endParaRPr lang="en-IN"/>
          </a:p>
        </p:txBody>
      </p:sp>
      <p:sp>
        <p:nvSpPr>
          <p:cNvPr id="5" name="Footer Placeholder 4">
            <a:extLst>
              <a:ext uri="{FF2B5EF4-FFF2-40B4-BE49-F238E27FC236}">
                <a16:creationId xmlns:a16="http://schemas.microsoft.com/office/drawing/2014/main" id="{917DD1E0-7134-44E3-3486-9DC15B448F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F54E64-132F-4847-4DBE-5B1DED3AF0E5}"/>
              </a:ext>
            </a:extLst>
          </p:cNvPr>
          <p:cNvSpPr>
            <a:spLocks noGrp="1"/>
          </p:cNvSpPr>
          <p:nvPr>
            <p:ph type="sldNum" sz="quarter" idx="12"/>
          </p:nvPr>
        </p:nvSpPr>
        <p:spPr/>
        <p:txBody>
          <a:bodyPr/>
          <a:lstStyle/>
          <a:p>
            <a:fld id="{8F5F5CFB-C8A0-40FE-A8BC-0586E98A0FDB}" type="slidenum">
              <a:rPr lang="en-IN" smtClean="0"/>
              <a:t>‹#›</a:t>
            </a:fld>
            <a:endParaRPr lang="en-IN"/>
          </a:p>
        </p:txBody>
      </p:sp>
    </p:spTree>
    <p:extLst>
      <p:ext uri="{BB962C8B-B14F-4D97-AF65-F5344CB8AC3E}">
        <p14:creationId xmlns:p14="http://schemas.microsoft.com/office/powerpoint/2010/main" val="1374371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B235F3-8075-4B6D-5F6B-C4B68E1232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5F6966-82FD-2760-00AF-20CE3612C0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9BF720-D7F7-3EFB-7938-BE2EB373ED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28F88-B9E8-4D22-8C1A-3EF1E2DC6C60}" type="datetimeFigureOut">
              <a:rPr lang="en-IN" smtClean="0"/>
              <a:t>17-02-2026</a:t>
            </a:fld>
            <a:endParaRPr lang="en-IN"/>
          </a:p>
        </p:txBody>
      </p:sp>
      <p:sp>
        <p:nvSpPr>
          <p:cNvPr id="5" name="Footer Placeholder 4">
            <a:extLst>
              <a:ext uri="{FF2B5EF4-FFF2-40B4-BE49-F238E27FC236}">
                <a16:creationId xmlns:a16="http://schemas.microsoft.com/office/drawing/2014/main" id="{3C1BCA2D-4EEB-F017-40AB-9E6A088FB7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653E2B-CF8E-014C-E847-6D815AA756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F5CFB-C8A0-40FE-A8BC-0586E98A0FDB}" type="slidenum">
              <a:rPr lang="en-IN" smtClean="0"/>
              <a:t>‹#›</a:t>
            </a:fld>
            <a:endParaRPr lang="en-IN"/>
          </a:p>
        </p:txBody>
      </p:sp>
    </p:spTree>
    <p:extLst>
      <p:ext uri="{BB962C8B-B14F-4D97-AF65-F5344CB8AC3E}">
        <p14:creationId xmlns:p14="http://schemas.microsoft.com/office/powerpoint/2010/main" val="31328955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f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5.tmp"/></Relationships>
</file>

<file path=ppt/slides/_rels/slide6.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7.tmp"/></Relationships>
</file>

<file path=ppt/slides/_rels/slide7.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9.tmp"/></Relationships>
</file>

<file path=ppt/slides/_rels/slide8.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11.tmp"/></Relationships>
</file>

<file path=ppt/slides/_rels/slide9.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13.tmp"/></Relationships>
</file>

<file path=ppt/slides/_rels/slide10.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15.tmp"/></Relationships>
</file>

<file path=ppt/slides/_rels/slide11.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jfif"/><Relationship Id="rId1" Type="http://schemas.openxmlformats.org/officeDocument/2006/relationships/slideLayout" Target="../slideLayouts/slideLayout2.xml"/><Relationship Id="rId4" Type="http://schemas.openxmlformats.org/officeDocument/2006/relationships/image" Target="../media/image17.tmp"/></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2046B4-EFF5-09D1-EF54-7E49146973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2A0D1129-084B-3572-6359-F7670FC5FEC0}"/>
              </a:ext>
            </a:extLst>
          </p:cNvPr>
          <p:cNvSpPr>
            <a:spLocks noGrp="1"/>
          </p:cNvSpPr>
          <p:nvPr>
            <p:ph type="ctrTitle"/>
          </p:nvPr>
        </p:nvSpPr>
        <p:spPr>
          <a:xfrm>
            <a:off x="0" y="0"/>
            <a:ext cx="9144000" cy="2387600"/>
          </a:xfrm>
        </p:spPr>
        <p:txBody>
          <a:bodyPr>
            <a:normAutofit fontScale="90000"/>
          </a:bodyPr>
          <a:lstStyle/>
          <a:p>
            <a:pPr algn="l"/>
            <a:r>
              <a:rPr lang="en-US" b="1" dirty="0">
                <a:latin typeface="Franklin Gothic Medium Cond" panose="020B0606030402020204" pitchFamily="34" charset="0"/>
              </a:rPr>
              <a:t>Student Performance &amp; Productivity Analysis </a:t>
            </a:r>
            <a:br>
              <a:rPr lang="en-US" b="1" dirty="0">
                <a:latin typeface="Franklin Gothic Medium Cond" panose="020B0606030402020204" pitchFamily="34" charset="0"/>
              </a:rPr>
            </a:br>
            <a:r>
              <a:rPr lang="en-US" b="1" dirty="0">
                <a:latin typeface="Franklin Gothic Medium Cond" panose="020B0606030402020204" pitchFamily="34" charset="0"/>
              </a:rPr>
              <a:t>using Python.</a:t>
            </a:r>
            <a:endParaRPr lang="en-IN" b="1" dirty="0">
              <a:latin typeface="Franklin Gothic Medium Cond" panose="020B0606030402020204" pitchFamily="34" charset="0"/>
            </a:endParaRPr>
          </a:p>
        </p:txBody>
      </p:sp>
    </p:spTree>
    <p:extLst>
      <p:ext uri="{BB962C8B-B14F-4D97-AF65-F5344CB8AC3E}">
        <p14:creationId xmlns:p14="http://schemas.microsoft.com/office/powerpoint/2010/main" val="2467190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E26FA-7592-0C4F-9F55-D5ACF6F3B90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2672070-67B3-9871-9AA2-AEE1EE901368}"/>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3A26B5CF-CD2C-6569-A213-070A5BB93761}"/>
              </a:ext>
            </a:extLst>
          </p:cNvPr>
          <p:cNvSpPr>
            <a:spLocks noGrp="1"/>
          </p:cNvSpPr>
          <p:nvPr>
            <p:ph type="ctrTitle"/>
          </p:nvPr>
        </p:nvSpPr>
        <p:spPr>
          <a:xfrm>
            <a:off x="508798" y="849884"/>
            <a:ext cx="4008338" cy="897128"/>
          </a:xfrm>
        </p:spPr>
        <p:txBody>
          <a:bodyPr>
            <a:normAutofit fontScale="90000"/>
          </a:bodyPr>
          <a:lstStyle/>
          <a:p>
            <a:pPr algn="l"/>
            <a:r>
              <a:rPr lang="en-US" b="1" u="sng" dirty="0">
                <a:latin typeface="Franklin Gothic Medium Cond" panose="020B0606030402020204" pitchFamily="34" charset="0"/>
              </a:rPr>
              <a:t>About We</a:t>
            </a:r>
            <a:endParaRPr lang="en-IN" b="1" u="sng" dirty="0">
              <a:latin typeface="Franklin Gothic Medium Cond" panose="020B0606030402020204" pitchFamily="34" charset="0"/>
            </a:endParaRPr>
          </a:p>
        </p:txBody>
      </p:sp>
      <p:sp>
        <p:nvSpPr>
          <p:cNvPr id="3" name="TextBox 2">
            <a:extLst>
              <a:ext uri="{FF2B5EF4-FFF2-40B4-BE49-F238E27FC236}">
                <a16:creationId xmlns:a16="http://schemas.microsoft.com/office/drawing/2014/main" id="{BA4D997B-BD99-241A-5A8F-4727D697514B}"/>
              </a:ext>
            </a:extLst>
          </p:cNvPr>
          <p:cNvSpPr txBox="1"/>
          <p:nvPr/>
        </p:nvSpPr>
        <p:spPr>
          <a:xfrm>
            <a:off x="374904" y="1892808"/>
            <a:ext cx="11612880" cy="923330"/>
          </a:xfrm>
          <a:prstGeom prst="rect">
            <a:avLst/>
          </a:prstGeom>
          <a:noFill/>
        </p:spPr>
        <p:txBody>
          <a:bodyPr wrap="square" rtlCol="0">
            <a:spAutoFit/>
          </a:bodyPr>
          <a:lstStyle/>
          <a:p>
            <a:r>
              <a:rPr lang="en-US" dirty="0"/>
              <a:t>We are passionate learners with a strong interest in data analysis and problem-solving.</a:t>
            </a:r>
            <a:br>
              <a:rPr lang="en-US" dirty="0"/>
            </a:br>
            <a:r>
              <a:rPr lang="en-US" dirty="0"/>
              <a:t>In this project, we worked together to analyze student productivity and exam performance using Python.</a:t>
            </a:r>
            <a:br>
              <a:rPr lang="en-US" dirty="0"/>
            </a:br>
            <a:r>
              <a:rPr lang="en-US" dirty="0"/>
              <a:t>We divided responsibilities equally and collaborated to generate insights and visual reports.</a:t>
            </a:r>
            <a:endParaRPr lang="en-IN" dirty="0"/>
          </a:p>
        </p:txBody>
      </p:sp>
      <p:sp>
        <p:nvSpPr>
          <p:cNvPr id="7" name="Title 1">
            <a:extLst>
              <a:ext uri="{FF2B5EF4-FFF2-40B4-BE49-F238E27FC236}">
                <a16:creationId xmlns:a16="http://schemas.microsoft.com/office/drawing/2014/main" id="{79C93718-D6E6-182D-EE8B-85D8A7E1A4A8}"/>
              </a:ext>
            </a:extLst>
          </p:cNvPr>
          <p:cNvSpPr txBox="1">
            <a:spLocks/>
          </p:cNvSpPr>
          <p:nvPr/>
        </p:nvSpPr>
        <p:spPr>
          <a:xfrm>
            <a:off x="374904" y="3593299"/>
            <a:ext cx="3227832" cy="897128"/>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u="sng" dirty="0">
                <a:latin typeface="Franklin Gothic Medium Cond" panose="020B0606030402020204" pitchFamily="34" charset="0"/>
              </a:rPr>
              <a:t>Summary</a:t>
            </a:r>
          </a:p>
        </p:txBody>
      </p:sp>
      <p:sp>
        <p:nvSpPr>
          <p:cNvPr id="8" name="TextBox 7">
            <a:extLst>
              <a:ext uri="{FF2B5EF4-FFF2-40B4-BE49-F238E27FC236}">
                <a16:creationId xmlns:a16="http://schemas.microsoft.com/office/drawing/2014/main" id="{FF3A8804-5AEB-6653-D650-EFF3E41ADA27}"/>
              </a:ext>
            </a:extLst>
          </p:cNvPr>
          <p:cNvSpPr txBox="1"/>
          <p:nvPr/>
        </p:nvSpPr>
        <p:spPr>
          <a:xfrm>
            <a:off x="435864" y="4386072"/>
            <a:ext cx="11612880" cy="923330"/>
          </a:xfrm>
          <a:prstGeom prst="rect">
            <a:avLst/>
          </a:prstGeom>
          <a:noFill/>
        </p:spPr>
        <p:txBody>
          <a:bodyPr wrap="square" rtlCol="0">
            <a:spAutoFit/>
          </a:bodyPr>
          <a:lstStyle/>
          <a:p>
            <a:r>
              <a:rPr lang="en-US" dirty="0"/>
              <a:t>This project analyzes various factors affecting student productivity and exam performance. Using Python and data analysis libraries, we examined how study hours, sleep, social media usage, burnout levels, and other lifestyle factors influence exam scores. The analysis helped identify key patterns and relationships that impact academic success.</a:t>
            </a:r>
            <a:endParaRPr lang="en-IN" dirty="0"/>
          </a:p>
        </p:txBody>
      </p:sp>
    </p:spTree>
    <p:extLst>
      <p:ext uri="{BB962C8B-B14F-4D97-AF65-F5344CB8AC3E}">
        <p14:creationId xmlns:p14="http://schemas.microsoft.com/office/powerpoint/2010/main" val="25135518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877F-477A-644D-DF3A-E307C91BF3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B45BFDB-CF93-F090-5552-8650E1FC1906}"/>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C5320634-00A4-B3AB-00FC-9775164AFC19}"/>
              </a:ext>
            </a:extLst>
          </p:cNvPr>
          <p:cNvSpPr>
            <a:spLocks noGrp="1"/>
          </p:cNvSpPr>
          <p:nvPr>
            <p:ph type="ctrTitle"/>
          </p:nvPr>
        </p:nvSpPr>
        <p:spPr>
          <a:xfrm>
            <a:off x="3602736" y="450958"/>
            <a:ext cx="4492970" cy="897128"/>
          </a:xfrm>
        </p:spPr>
        <p:txBody>
          <a:bodyPr>
            <a:normAutofit fontScale="90000"/>
          </a:bodyPr>
          <a:lstStyle/>
          <a:p>
            <a:r>
              <a:rPr lang="en-US" b="1" u="sng" dirty="0">
                <a:latin typeface="Franklin Gothic Medium Cond" panose="020B0606030402020204" pitchFamily="34" charset="0"/>
              </a:rPr>
              <a:t>Table of Content</a:t>
            </a:r>
            <a:endParaRPr lang="en-IN" b="1" u="sng" dirty="0">
              <a:latin typeface="Franklin Gothic Medium Cond" panose="020B0606030402020204" pitchFamily="34" charset="0"/>
            </a:endParaRPr>
          </a:p>
        </p:txBody>
      </p:sp>
      <p:sp>
        <p:nvSpPr>
          <p:cNvPr id="4" name="TextBox 3">
            <a:extLst>
              <a:ext uri="{FF2B5EF4-FFF2-40B4-BE49-F238E27FC236}">
                <a16:creationId xmlns:a16="http://schemas.microsoft.com/office/drawing/2014/main" id="{C619803C-2C00-C2E2-F834-310545E6F79B}"/>
              </a:ext>
            </a:extLst>
          </p:cNvPr>
          <p:cNvSpPr txBox="1"/>
          <p:nvPr/>
        </p:nvSpPr>
        <p:spPr>
          <a:xfrm>
            <a:off x="560832" y="2025551"/>
            <a:ext cx="5382768" cy="4154984"/>
          </a:xfrm>
          <a:prstGeom prst="rect">
            <a:avLst/>
          </a:prstGeom>
          <a:noFill/>
        </p:spPr>
        <p:txBody>
          <a:bodyPr wrap="square" rtlCol="0">
            <a:spAutoFit/>
          </a:bodyPr>
          <a:lstStyle/>
          <a:p>
            <a:pPr marL="285750" indent="-285750">
              <a:buFont typeface="Arial" panose="020B0604020202020204" pitchFamily="34" charset="0"/>
              <a:buChar char="•"/>
            </a:pPr>
            <a:r>
              <a:rPr lang="en-IN" sz="4400" dirty="0"/>
              <a:t>Libraries</a:t>
            </a:r>
          </a:p>
          <a:p>
            <a:pPr marL="285750" indent="-285750">
              <a:buFont typeface="Arial" panose="020B0604020202020204" pitchFamily="34" charset="0"/>
              <a:buChar char="•"/>
            </a:pPr>
            <a:r>
              <a:rPr lang="en-IN" sz="4400" dirty="0"/>
              <a:t>Dataset Load</a:t>
            </a:r>
          </a:p>
          <a:p>
            <a:pPr marL="285750" indent="-285750">
              <a:buFont typeface="Arial" panose="020B0604020202020204" pitchFamily="34" charset="0"/>
              <a:buChar char="•"/>
            </a:pPr>
            <a:r>
              <a:rPr lang="en-IN" sz="4400" dirty="0"/>
              <a:t>Basic Analysis</a:t>
            </a:r>
          </a:p>
          <a:p>
            <a:pPr marL="285750" indent="-285750">
              <a:buFont typeface="Arial" panose="020B0604020202020204" pitchFamily="34" charset="0"/>
              <a:buChar char="•"/>
            </a:pPr>
            <a:r>
              <a:rPr lang="en-IN" sz="4400" dirty="0"/>
              <a:t>Describe Data</a:t>
            </a:r>
          </a:p>
          <a:p>
            <a:pPr marL="285750" indent="-285750">
              <a:buFont typeface="Arial" panose="020B0604020202020204" pitchFamily="34" charset="0"/>
              <a:buChar char="•"/>
            </a:pPr>
            <a:r>
              <a:rPr lang="en-IN" sz="4400" dirty="0"/>
              <a:t>Show Unique Data</a:t>
            </a:r>
          </a:p>
          <a:p>
            <a:pPr marL="285750" indent="-285750">
              <a:buFont typeface="Arial" panose="020B0604020202020204" pitchFamily="34" charset="0"/>
              <a:buChar char="•"/>
            </a:pPr>
            <a:r>
              <a:rPr lang="en-IN" sz="4400" dirty="0"/>
              <a:t>Charts</a:t>
            </a:r>
          </a:p>
        </p:txBody>
      </p:sp>
      <p:pic>
        <p:nvPicPr>
          <p:cNvPr id="9" name="Picture 8">
            <a:extLst>
              <a:ext uri="{FF2B5EF4-FFF2-40B4-BE49-F238E27FC236}">
                <a16:creationId xmlns:a16="http://schemas.microsoft.com/office/drawing/2014/main" id="{F6041360-8163-B39B-9112-44D37B20A9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736" y="2129028"/>
            <a:ext cx="4041648" cy="404164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41286406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FF58FE-26E1-7748-A675-558128EAF3D0}"/>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13CDE6D8-0ACE-244D-B64B-87B26B333458}"/>
              </a:ext>
            </a:extLst>
          </p:cNvPr>
          <p:cNvSpPr>
            <a:spLocks noGrp="1"/>
          </p:cNvSpPr>
          <p:nvPr>
            <p:ph type="title"/>
          </p:nvPr>
        </p:nvSpPr>
        <p:spPr>
          <a:xfrm>
            <a:off x="4905755" y="42682"/>
            <a:ext cx="2380488" cy="1325563"/>
          </a:xfrm>
        </p:spPr>
        <p:txBody>
          <a:bodyPr/>
          <a:lstStyle/>
          <a:p>
            <a:pPr marL="285750" indent="-285750" algn="ctr">
              <a:buFont typeface="Arial" panose="020B0604020202020204" pitchFamily="34" charset="0"/>
              <a:buChar char="•"/>
            </a:pPr>
            <a:r>
              <a:rPr lang="en-IN" b="1" dirty="0">
                <a:latin typeface="Franklin Gothic Medium Cond" panose="020B0606030402020204" pitchFamily="34" charset="0"/>
              </a:rPr>
              <a:t>Libraries</a:t>
            </a:r>
          </a:p>
        </p:txBody>
      </p:sp>
      <p:sp>
        <p:nvSpPr>
          <p:cNvPr id="13" name="TextBox 12">
            <a:extLst>
              <a:ext uri="{FF2B5EF4-FFF2-40B4-BE49-F238E27FC236}">
                <a16:creationId xmlns:a16="http://schemas.microsoft.com/office/drawing/2014/main" id="{1EB6B932-203D-AB39-639B-797C26969E4B}"/>
              </a:ext>
            </a:extLst>
          </p:cNvPr>
          <p:cNvSpPr txBox="1"/>
          <p:nvPr/>
        </p:nvSpPr>
        <p:spPr>
          <a:xfrm>
            <a:off x="429768" y="365124"/>
            <a:ext cx="1837944" cy="523220"/>
          </a:xfrm>
          <a:prstGeom prst="rect">
            <a:avLst/>
          </a:prstGeom>
          <a:noFill/>
        </p:spPr>
        <p:txBody>
          <a:bodyPr wrap="square" rtlCol="0">
            <a:spAutoFit/>
          </a:bodyPr>
          <a:lstStyle/>
          <a:p>
            <a:r>
              <a:rPr lang="en-US" sz="2800" u="sng" dirty="0">
                <a:latin typeface="Bahnschrift SemiBold" panose="020B0502040204020203" pitchFamily="34" charset="0"/>
              </a:rPr>
              <a:t>1</a:t>
            </a:r>
            <a:endParaRPr lang="en-IN" sz="2800" u="sng" dirty="0">
              <a:latin typeface="Bahnschrift SemiBold" panose="020B0502040204020203" pitchFamily="34" charset="0"/>
            </a:endParaRPr>
          </a:p>
        </p:txBody>
      </p:sp>
      <p:pic>
        <p:nvPicPr>
          <p:cNvPr id="8" name="Picture 7">
            <a:extLst>
              <a:ext uri="{FF2B5EF4-FFF2-40B4-BE49-F238E27FC236}">
                <a16:creationId xmlns:a16="http://schemas.microsoft.com/office/drawing/2014/main" id="{B0345B10-F349-3EF5-18C0-623A979741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495" y="1253468"/>
            <a:ext cx="6177209" cy="202558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3624521B-363C-37A5-C257-2B69ED200F09}"/>
              </a:ext>
            </a:extLst>
          </p:cNvPr>
          <p:cNvSpPr txBox="1"/>
          <p:nvPr/>
        </p:nvSpPr>
        <p:spPr>
          <a:xfrm>
            <a:off x="786384" y="3675888"/>
            <a:ext cx="11036808" cy="1200329"/>
          </a:xfrm>
          <a:prstGeom prst="rect">
            <a:avLst/>
          </a:prstGeom>
          <a:noFill/>
        </p:spPr>
        <p:txBody>
          <a:bodyPr wrap="square" rtlCol="0">
            <a:spAutoFit/>
          </a:bodyPr>
          <a:lstStyle/>
          <a:p>
            <a:r>
              <a:rPr lang="en-US" sz="2400" dirty="0"/>
              <a:t>In this project, Pandas was used to load the dataset, clean and organize the data, calculate averages and correlations, and prepare the data for visualization and further analysis. It played a key role in handling the student performance dataset efficiently.</a:t>
            </a:r>
            <a:endParaRPr lang="en-IN" sz="2400" dirty="0"/>
          </a:p>
        </p:txBody>
      </p:sp>
    </p:spTree>
    <p:extLst>
      <p:ext uri="{BB962C8B-B14F-4D97-AF65-F5344CB8AC3E}">
        <p14:creationId xmlns:p14="http://schemas.microsoft.com/office/powerpoint/2010/main" val="10419013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C1ACB-602A-3669-A551-E754501E160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922538-4259-CD47-0230-7A6EECD38B3E}"/>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D0E8B906-64BE-DC3B-C787-61A1915EC6E1}"/>
              </a:ext>
            </a:extLst>
          </p:cNvPr>
          <p:cNvSpPr>
            <a:spLocks noGrp="1"/>
          </p:cNvSpPr>
          <p:nvPr>
            <p:ph type="title"/>
          </p:nvPr>
        </p:nvSpPr>
        <p:spPr>
          <a:xfrm>
            <a:off x="4569713" y="79258"/>
            <a:ext cx="3470149" cy="1325563"/>
          </a:xfrm>
        </p:spPr>
        <p:txBody>
          <a:bodyPr/>
          <a:lstStyle/>
          <a:p>
            <a:pPr marL="285750" indent="-285750">
              <a:buFont typeface="Arial" panose="020B0604020202020204" pitchFamily="34" charset="0"/>
              <a:buChar char="•"/>
            </a:pPr>
            <a:r>
              <a:rPr lang="en-IN" b="1" dirty="0">
                <a:latin typeface="Franklin Gothic Medium Cond" panose="020B0606030402020204" pitchFamily="34" charset="0"/>
              </a:rPr>
              <a:t>Dataset Load</a:t>
            </a:r>
          </a:p>
        </p:txBody>
      </p:sp>
      <p:sp>
        <p:nvSpPr>
          <p:cNvPr id="13" name="TextBox 12">
            <a:extLst>
              <a:ext uri="{FF2B5EF4-FFF2-40B4-BE49-F238E27FC236}">
                <a16:creationId xmlns:a16="http://schemas.microsoft.com/office/drawing/2014/main" id="{3B72D30F-C02F-EEAB-5E31-B94DFADFD123}"/>
              </a:ext>
            </a:extLst>
          </p:cNvPr>
          <p:cNvSpPr txBox="1"/>
          <p:nvPr/>
        </p:nvSpPr>
        <p:spPr>
          <a:xfrm>
            <a:off x="429768" y="365124"/>
            <a:ext cx="356616" cy="523220"/>
          </a:xfrm>
          <a:prstGeom prst="rect">
            <a:avLst/>
          </a:prstGeom>
          <a:noFill/>
        </p:spPr>
        <p:txBody>
          <a:bodyPr wrap="square" rtlCol="0">
            <a:spAutoFit/>
          </a:bodyPr>
          <a:lstStyle/>
          <a:p>
            <a:r>
              <a:rPr lang="en-US" sz="2800" u="sng" dirty="0">
                <a:latin typeface="Bahnschrift SemiBold" panose="020B0502040204020203" pitchFamily="34" charset="0"/>
              </a:rPr>
              <a:t>2</a:t>
            </a:r>
            <a:endParaRPr lang="en-IN" sz="2800" u="sng" dirty="0">
              <a:latin typeface="Bahnschrift SemiBold" panose="020B0502040204020203" pitchFamily="34" charset="0"/>
            </a:endParaRPr>
          </a:p>
        </p:txBody>
      </p:sp>
      <p:pic>
        <p:nvPicPr>
          <p:cNvPr id="5" name="Picture 4">
            <a:extLst>
              <a:ext uri="{FF2B5EF4-FFF2-40B4-BE49-F238E27FC236}">
                <a16:creationId xmlns:a16="http://schemas.microsoft.com/office/drawing/2014/main" id="{79A55CC4-9C8A-944C-F4A9-93DC6A584D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13" y="1340073"/>
            <a:ext cx="12192000" cy="6299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194940D6-0346-FB0F-8190-D5C02E6A9D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9353" y="2208127"/>
            <a:ext cx="7533293" cy="43790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6382457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A5963-EE27-3B98-EB60-BD2F7FC4FCA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59366E5-CC22-7C53-0DEF-D171A76F90D3}"/>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B31027DA-12C6-9487-A699-C3EBF0E61EB6}"/>
              </a:ext>
            </a:extLst>
          </p:cNvPr>
          <p:cNvSpPr>
            <a:spLocks noGrp="1"/>
          </p:cNvSpPr>
          <p:nvPr>
            <p:ph type="title"/>
          </p:nvPr>
        </p:nvSpPr>
        <p:spPr>
          <a:xfrm>
            <a:off x="4569713" y="79258"/>
            <a:ext cx="3541015" cy="1325563"/>
          </a:xfrm>
        </p:spPr>
        <p:txBody>
          <a:bodyPr/>
          <a:lstStyle/>
          <a:p>
            <a:pPr marL="285750" indent="-285750">
              <a:buFont typeface="Arial" panose="020B0604020202020204" pitchFamily="34" charset="0"/>
              <a:buChar char="•"/>
            </a:pPr>
            <a:r>
              <a:rPr lang="en-IN" b="1" dirty="0">
                <a:latin typeface="Franklin Gothic Medium Cond" panose="020B0606030402020204" pitchFamily="34" charset="0"/>
              </a:rPr>
              <a:t>Basic Analysis</a:t>
            </a:r>
          </a:p>
        </p:txBody>
      </p:sp>
      <p:sp>
        <p:nvSpPr>
          <p:cNvPr id="13" name="TextBox 12">
            <a:extLst>
              <a:ext uri="{FF2B5EF4-FFF2-40B4-BE49-F238E27FC236}">
                <a16:creationId xmlns:a16="http://schemas.microsoft.com/office/drawing/2014/main" id="{C4D79E8D-D6C1-52E0-2E49-D179F199343C}"/>
              </a:ext>
            </a:extLst>
          </p:cNvPr>
          <p:cNvSpPr txBox="1"/>
          <p:nvPr/>
        </p:nvSpPr>
        <p:spPr>
          <a:xfrm>
            <a:off x="429768" y="365124"/>
            <a:ext cx="356616" cy="523220"/>
          </a:xfrm>
          <a:prstGeom prst="rect">
            <a:avLst/>
          </a:prstGeom>
          <a:noFill/>
        </p:spPr>
        <p:txBody>
          <a:bodyPr wrap="square" rtlCol="0">
            <a:spAutoFit/>
          </a:bodyPr>
          <a:lstStyle/>
          <a:p>
            <a:r>
              <a:rPr lang="en-US" sz="2800" u="sng" dirty="0">
                <a:latin typeface="Bahnschrift SemiBold" panose="020B0502040204020203" pitchFamily="34" charset="0"/>
              </a:rPr>
              <a:t>3</a:t>
            </a:r>
            <a:endParaRPr lang="en-IN" sz="2800" u="sng" dirty="0">
              <a:latin typeface="Bahnschrift SemiBold" panose="020B0502040204020203" pitchFamily="34" charset="0"/>
            </a:endParaRPr>
          </a:p>
        </p:txBody>
      </p:sp>
      <p:pic>
        <p:nvPicPr>
          <p:cNvPr id="6" name="Picture 5">
            <a:extLst>
              <a:ext uri="{FF2B5EF4-FFF2-40B4-BE49-F238E27FC236}">
                <a16:creationId xmlns:a16="http://schemas.microsoft.com/office/drawing/2014/main" id="{0342AA6E-764E-917E-BF76-C2F834704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1850" y="1404821"/>
            <a:ext cx="3596740" cy="7193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1A7F7F7B-A0B4-5C35-C84F-35916A5BBE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5666" y="2671556"/>
            <a:ext cx="2029108" cy="3639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14054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2A8D7-02F6-3C2F-9FC2-059043EB3D0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719B08-161F-DD69-7045-C622BC118DD2}"/>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7FC4895C-D220-2CA1-EFC0-CE8BCB1128C9}"/>
              </a:ext>
            </a:extLst>
          </p:cNvPr>
          <p:cNvSpPr>
            <a:spLocks noGrp="1"/>
          </p:cNvSpPr>
          <p:nvPr>
            <p:ph type="title"/>
          </p:nvPr>
        </p:nvSpPr>
        <p:spPr>
          <a:xfrm>
            <a:off x="4569713" y="79258"/>
            <a:ext cx="3596740" cy="1325563"/>
          </a:xfrm>
        </p:spPr>
        <p:txBody>
          <a:bodyPr/>
          <a:lstStyle/>
          <a:p>
            <a:pPr marL="285750" indent="-285750">
              <a:buFont typeface="Arial" panose="020B0604020202020204" pitchFamily="34" charset="0"/>
              <a:buChar char="•"/>
            </a:pPr>
            <a:r>
              <a:rPr lang="en-IN" b="1" dirty="0">
                <a:latin typeface="Franklin Gothic Medium Cond" panose="020B0606030402020204" pitchFamily="34" charset="0"/>
              </a:rPr>
              <a:t>Describe Data</a:t>
            </a:r>
          </a:p>
        </p:txBody>
      </p:sp>
      <p:sp>
        <p:nvSpPr>
          <p:cNvPr id="13" name="TextBox 12">
            <a:extLst>
              <a:ext uri="{FF2B5EF4-FFF2-40B4-BE49-F238E27FC236}">
                <a16:creationId xmlns:a16="http://schemas.microsoft.com/office/drawing/2014/main" id="{4B14A8E7-3405-28D5-836B-5448BAAD7AF2}"/>
              </a:ext>
            </a:extLst>
          </p:cNvPr>
          <p:cNvSpPr txBox="1"/>
          <p:nvPr/>
        </p:nvSpPr>
        <p:spPr>
          <a:xfrm>
            <a:off x="429768" y="365124"/>
            <a:ext cx="356616" cy="523220"/>
          </a:xfrm>
          <a:prstGeom prst="rect">
            <a:avLst/>
          </a:prstGeom>
          <a:noFill/>
        </p:spPr>
        <p:txBody>
          <a:bodyPr wrap="square" rtlCol="0">
            <a:spAutoFit/>
          </a:bodyPr>
          <a:lstStyle/>
          <a:p>
            <a:r>
              <a:rPr lang="en-US" sz="2800" u="sng" dirty="0">
                <a:latin typeface="Bahnschrift SemiBold" panose="020B0502040204020203" pitchFamily="34" charset="0"/>
              </a:rPr>
              <a:t>4</a:t>
            </a:r>
            <a:endParaRPr lang="en-IN" sz="2800" u="sng" dirty="0">
              <a:latin typeface="Bahnschrift SemiBold" panose="020B0502040204020203" pitchFamily="34" charset="0"/>
            </a:endParaRPr>
          </a:p>
        </p:txBody>
      </p:sp>
      <p:pic>
        <p:nvPicPr>
          <p:cNvPr id="5" name="Picture 4">
            <a:extLst>
              <a:ext uri="{FF2B5EF4-FFF2-40B4-BE49-F238E27FC236}">
                <a16:creationId xmlns:a16="http://schemas.microsoft.com/office/drawing/2014/main" id="{2357721D-18AD-DED6-EF7C-E57B08630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7824" y="1404821"/>
            <a:ext cx="2216350" cy="73878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F9E27354-454E-0F9F-AC5E-5FA1A3EE5C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596" y="2835946"/>
            <a:ext cx="10602805" cy="3124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35686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1A61C-D93E-A7A3-1B5C-4121F6722C5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DFB18E6-100D-FB1B-E92B-01C581F96DFF}"/>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67BB13DF-85B9-6E24-194A-1F79EB707134}"/>
              </a:ext>
            </a:extLst>
          </p:cNvPr>
          <p:cNvSpPr>
            <a:spLocks noGrp="1"/>
          </p:cNvSpPr>
          <p:nvPr>
            <p:ph type="title"/>
          </p:nvPr>
        </p:nvSpPr>
        <p:spPr>
          <a:xfrm>
            <a:off x="3885626" y="158516"/>
            <a:ext cx="4420745" cy="1325563"/>
          </a:xfrm>
        </p:spPr>
        <p:txBody>
          <a:bodyPr/>
          <a:lstStyle/>
          <a:p>
            <a:pPr marL="285750" indent="-285750">
              <a:buFont typeface="Arial" panose="020B0604020202020204" pitchFamily="34" charset="0"/>
              <a:buChar char="•"/>
            </a:pPr>
            <a:r>
              <a:rPr lang="en-IN" b="1" dirty="0">
                <a:latin typeface="Franklin Gothic Medium Cond" panose="020B0606030402020204" pitchFamily="34" charset="0"/>
              </a:rPr>
              <a:t>Show Unique Data</a:t>
            </a:r>
          </a:p>
        </p:txBody>
      </p:sp>
      <p:sp>
        <p:nvSpPr>
          <p:cNvPr id="13" name="TextBox 12">
            <a:extLst>
              <a:ext uri="{FF2B5EF4-FFF2-40B4-BE49-F238E27FC236}">
                <a16:creationId xmlns:a16="http://schemas.microsoft.com/office/drawing/2014/main" id="{28118794-BB66-DECE-2AF2-C756B3982FEA}"/>
              </a:ext>
            </a:extLst>
          </p:cNvPr>
          <p:cNvSpPr txBox="1"/>
          <p:nvPr/>
        </p:nvSpPr>
        <p:spPr>
          <a:xfrm>
            <a:off x="429768" y="365124"/>
            <a:ext cx="356616" cy="523220"/>
          </a:xfrm>
          <a:prstGeom prst="rect">
            <a:avLst/>
          </a:prstGeom>
          <a:noFill/>
        </p:spPr>
        <p:txBody>
          <a:bodyPr wrap="square" rtlCol="0">
            <a:spAutoFit/>
          </a:bodyPr>
          <a:lstStyle/>
          <a:p>
            <a:r>
              <a:rPr lang="en-US" sz="2800" u="sng" dirty="0">
                <a:latin typeface="Bahnschrift SemiBold" panose="020B0502040204020203" pitchFamily="34" charset="0"/>
              </a:rPr>
              <a:t>5</a:t>
            </a:r>
            <a:endParaRPr lang="en-IN" sz="2800" u="sng" dirty="0">
              <a:latin typeface="Bahnschrift SemiBold" panose="020B0502040204020203" pitchFamily="34" charset="0"/>
            </a:endParaRPr>
          </a:p>
        </p:txBody>
      </p:sp>
      <p:pic>
        <p:nvPicPr>
          <p:cNvPr id="6" name="Picture 5">
            <a:extLst>
              <a:ext uri="{FF2B5EF4-FFF2-40B4-BE49-F238E27FC236}">
                <a16:creationId xmlns:a16="http://schemas.microsoft.com/office/drawing/2014/main" id="{B6D19DB5-9136-C99B-0E65-FB3F47BAB8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0717" y="1484079"/>
            <a:ext cx="3810565" cy="6953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D148857A-3D91-3DC2-93B6-2F8E771730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8192" y="2819224"/>
            <a:ext cx="9595611" cy="169949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38349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B2BC9-9AA5-6DDE-329F-659F1A1EE6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CEDF0D2-05F8-5574-2F76-C66754F96DF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A8629D24-7EA0-5C14-8B6D-08394FB51DC9}"/>
              </a:ext>
            </a:extLst>
          </p:cNvPr>
          <p:cNvSpPr>
            <a:spLocks noGrp="1"/>
          </p:cNvSpPr>
          <p:nvPr>
            <p:ph type="title"/>
          </p:nvPr>
        </p:nvSpPr>
        <p:spPr>
          <a:xfrm>
            <a:off x="5004315" y="158516"/>
            <a:ext cx="1929958" cy="1325563"/>
          </a:xfrm>
        </p:spPr>
        <p:txBody>
          <a:bodyPr/>
          <a:lstStyle/>
          <a:p>
            <a:pPr marL="285750" indent="-285750">
              <a:buFont typeface="Arial" panose="020B0604020202020204" pitchFamily="34" charset="0"/>
              <a:buChar char="•"/>
            </a:pPr>
            <a:r>
              <a:rPr lang="en-IN" b="1" dirty="0">
                <a:latin typeface="Franklin Gothic Medium Cond" panose="020B0606030402020204" pitchFamily="34" charset="0"/>
              </a:rPr>
              <a:t>Charts</a:t>
            </a:r>
          </a:p>
        </p:txBody>
      </p:sp>
      <p:sp>
        <p:nvSpPr>
          <p:cNvPr id="13" name="TextBox 12">
            <a:extLst>
              <a:ext uri="{FF2B5EF4-FFF2-40B4-BE49-F238E27FC236}">
                <a16:creationId xmlns:a16="http://schemas.microsoft.com/office/drawing/2014/main" id="{42BBFC0C-2AB1-27C2-BA25-C98315C38EFF}"/>
              </a:ext>
            </a:extLst>
          </p:cNvPr>
          <p:cNvSpPr txBox="1"/>
          <p:nvPr/>
        </p:nvSpPr>
        <p:spPr>
          <a:xfrm>
            <a:off x="429768" y="365124"/>
            <a:ext cx="356616" cy="523220"/>
          </a:xfrm>
          <a:prstGeom prst="rect">
            <a:avLst/>
          </a:prstGeom>
          <a:noFill/>
        </p:spPr>
        <p:txBody>
          <a:bodyPr wrap="square" rtlCol="0">
            <a:spAutoFit/>
          </a:bodyPr>
          <a:lstStyle/>
          <a:p>
            <a:r>
              <a:rPr lang="en-US" sz="2800" u="sng" dirty="0">
                <a:latin typeface="Bahnschrift SemiBold" panose="020B0502040204020203" pitchFamily="34" charset="0"/>
              </a:rPr>
              <a:t>6</a:t>
            </a:r>
            <a:endParaRPr lang="en-IN" sz="2800" u="sng" dirty="0">
              <a:latin typeface="Bahnschrift SemiBold" panose="020B0502040204020203" pitchFamily="34" charset="0"/>
            </a:endParaRPr>
          </a:p>
        </p:txBody>
      </p:sp>
      <p:pic>
        <p:nvPicPr>
          <p:cNvPr id="5" name="Picture 4">
            <a:extLst>
              <a:ext uri="{FF2B5EF4-FFF2-40B4-BE49-F238E27FC236}">
                <a16:creationId xmlns:a16="http://schemas.microsoft.com/office/drawing/2014/main" id="{AB8DC147-4399-E671-CCFA-E98BC55DC9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0186" y="1484079"/>
            <a:ext cx="4058216" cy="5239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6244AEB8-E96D-9879-803D-16D32AD2D9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5608" y="2313962"/>
            <a:ext cx="6327371" cy="43855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800557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75354-7349-26CF-FF6C-B2CF17608E9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2A6DF6F-6E75-A9A8-2268-9000369A04A8}"/>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49A63815-FFF4-FF07-F34C-AA410E7CEC9C}"/>
              </a:ext>
            </a:extLst>
          </p:cNvPr>
          <p:cNvSpPr>
            <a:spLocks noGrp="1"/>
          </p:cNvSpPr>
          <p:nvPr>
            <p:ph type="title"/>
          </p:nvPr>
        </p:nvSpPr>
        <p:spPr>
          <a:xfrm>
            <a:off x="5004315" y="158516"/>
            <a:ext cx="1929958" cy="1325563"/>
          </a:xfrm>
        </p:spPr>
        <p:txBody>
          <a:bodyPr/>
          <a:lstStyle/>
          <a:p>
            <a:pPr marL="285750" indent="-285750">
              <a:buFont typeface="Arial" panose="020B0604020202020204" pitchFamily="34" charset="0"/>
              <a:buChar char="•"/>
            </a:pPr>
            <a:r>
              <a:rPr lang="en-IN" b="1" dirty="0">
                <a:latin typeface="Franklin Gothic Medium Cond" panose="020B0606030402020204" pitchFamily="34" charset="0"/>
              </a:rPr>
              <a:t>Charts</a:t>
            </a:r>
          </a:p>
        </p:txBody>
      </p:sp>
      <p:sp>
        <p:nvSpPr>
          <p:cNvPr id="13" name="TextBox 12">
            <a:extLst>
              <a:ext uri="{FF2B5EF4-FFF2-40B4-BE49-F238E27FC236}">
                <a16:creationId xmlns:a16="http://schemas.microsoft.com/office/drawing/2014/main" id="{B0E3E3D5-1328-9004-A0CC-DE91210E66E9}"/>
              </a:ext>
            </a:extLst>
          </p:cNvPr>
          <p:cNvSpPr txBox="1"/>
          <p:nvPr/>
        </p:nvSpPr>
        <p:spPr>
          <a:xfrm>
            <a:off x="429768" y="365124"/>
            <a:ext cx="356616" cy="523220"/>
          </a:xfrm>
          <a:prstGeom prst="rect">
            <a:avLst/>
          </a:prstGeom>
          <a:noFill/>
        </p:spPr>
        <p:txBody>
          <a:bodyPr wrap="square" rtlCol="0">
            <a:spAutoFit/>
          </a:bodyPr>
          <a:lstStyle/>
          <a:p>
            <a:r>
              <a:rPr lang="en-US" sz="2800" u="sng" dirty="0">
                <a:latin typeface="Bahnschrift SemiBold" panose="020B0502040204020203" pitchFamily="34" charset="0"/>
              </a:rPr>
              <a:t>7</a:t>
            </a:r>
            <a:endParaRPr lang="en-IN" sz="2800" u="sng" dirty="0">
              <a:latin typeface="Bahnschrift SemiBold" panose="020B0502040204020203" pitchFamily="34" charset="0"/>
            </a:endParaRPr>
          </a:p>
        </p:txBody>
      </p:sp>
      <p:pic>
        <p:nvPicPr>
          <p:cNvPr id="6" name="Picture 5">
            <a:extLst>
              <a:ext uri="{FF2B5EF4-FFF2-40B4-BE49-F238E27FC236}">
                <a16:creationId xmlns:a16="http://schemas.microsoft.com/office/drawing/2014/main" id="{ACEF0B1E-6464-8EBE-2E14-4A89E12851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4475" y="1309025"/>
            <a:ext cx="4029637" cy="12955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D79EEBA9-B370-8083-F4FD-EEE3C4EA3E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7157" y="2793104"/>
            <a:ext cx="5344271" cy="39153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3291021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67033-0206-31B5-4FB2-D07B5E9634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FB0C190-3C84-F3C5-E556-6DA593B262B4}"/>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DA537F11-C56D-A3A2-F87C-C09BA64B5683}"/>
              </a:ext>
            </a:extLst>
          </p:cNvPr>
          <p:cNvSpPr>
            <a:spLocks noGrp="1"/>
          </p:cNvSpPr>
          <p:nvPr>
            <p:ph type="title"/>
          </p:nvPr>
        </p:nvSpPr>
        <p:spPr>
          <a:xfrm>
            <a:off x="5004315" y="158516"/>
            <a:ext cx="1929958" cy="1325563"/>
          </a:xfrm>
        </p:spPr>
        <p:txBody>
          <a:bodyPr/>
          <a:lstStyle/>
          <a:p>
            <a:pPr marL="285750" indent="-285750">
              <a:buFont typeface="Arial" panose="020B0604020202020204" pitchFamily="34" charset="0"/>
              <a:buChar char="•"/>
            </a:pPr>
            <a:r>
              <a:rPr lang="en-IN" b="1" dirty="0">
                <a:latin typeface="Franklin Gothic Medium Cond" panose="020B0606030402020204" pitchFamily="34" charset="0"/>
              </a:rPr>
              <a:t>Charts</a:t>
            </a:r>
          </a:p>
        </p:txBody>
      </p:sp>
      <p:sp>
        <p:nvSpPr>
          <p:cNvPr id="13" name="TextBox 12">
            <a:extLst>
              <a:ext uri="{FF2B5EF4-FFF2-40B4-BE49-F238E27FC236}">
                <a16:creationId xmlns:a16="http://schemas.microsoft.com/office/drawing/2014/main" id="{7978025B-0FEF-8A42-1AC5-5BD5E0940866}"/>
              </a:ext>
            </a:extLst>
          </p:cNvPr>
          <p:cNvSpPr txBox="1"/>
          <p:nvPr/>
        </p:nvSpPr>
        <p:spPr>
          <a:xfrm>
            <a:off x="429768" y="365124"/>
            <a:ext cx="356616" cy="523220"/>
          </a:xfrm>
          <a:prstGeom prst="rect">
            <a:avLst/>
          </a:prstGeom>
          <a:noFill/>
        </p:spPr>
        <p:txBody>
          <a:bodyPr wrap="square" rtlCol="0">
            <a:spAutoFit/>
          </a:bodyPr>
          <a:lstStyle/>
          <a:p>
            <a:r>
              <a:rPr lang="en-US" sz="2800" u="sng" dirty="0">
                <a:latin typeface="Bahnschrift SemiBold" panose="020B0502040204020203" pitchFamily="34" charset="0"/>
              </a:rPr>
              <a:t>8</a:t>
            </a:r>
            <a:endParaRPr lang="en-IN" sz="2800" u="sng" dirty="0">
              <a:latin typeface="Bahnschrift SemiBold" panose="020B0502040204020203" pitchFamily="34" charset="0"/>
            </a:endParaRPr>
          </a:p>
        </p:txBody>
      </p:sp>
      <p:pic>
        <p:nvPicPr>
          <p:cNvPr id="5" name="Picture 4">
            <a:extLst>
              <a:ext uri="{FF2B5EF4-FFF2-40B4-BE49-F238E27FC236}">
                <a16:creationId xmlns:a16="http://schemas.microsoft.com/office/drawing/2014/main" id="{30D480DE-2A9E-B39F-E0DE-C4AC2BD6CD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9633" y="1350014"/>
            <a:ext cx="4639322" cy="8478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B55DA611-FA3F-0FC1-806B-71A19F10BD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2789" y="2327346"/>
            <a:ext cx="5973009" cy="44011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69884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4FF1FC-0CDE-9BA7-4E5A-57C8208AB1DC}"/>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7214" y="0"/>
            <a:ext cx="12246427" cy="6858000"/>
          </a:xfrm>
          <a:prstGeom prst="rect">
            <a:avLst/>
          </a:prstGeom>
        </p:spPr>
      </p:pic>
      <p:sp>
        <p:nvSpPr>
          <p:cNvPr id="2" name="Title 1">
            <a:extLst>
              <a:ext uri="{FF2B5EF4-FFF2-40B4-BE49-F238E27FC236}">
                <a16:creationId xmlns:a16="http://schemas.microsoft.com/office/drawing/2014/main" id="{8D1B48C1-A14B-C995-9904-F94248FC2A9C}"/>
              </a:ext>
            </a:extLst>
          </p:cNvPr>
          <p:cNvSpPr>
            <a:spLocks noGrp="1"/>
          </p:cNvSpPr>
          <p:nvPr>
            <p:ph type="title"/>
          </p:nvPr>
        </p:nvSpPr>
        <p:spPr>
          <a:xfrm>
            <a:off x="3680459" y="2825178"/>
            <a:ext cx="4831080" cy="1207643"/>
          </a:xfrm>
        </p:spPr>
        <p:txBody>
          <a:bodyPr>
            <a:noAutofit/>
          </a:bodyPr>
          <a:lstStyle/>
          <a:p>
            <a:r>
              <a:rPr lang="en-US" sz="9600" b="1" dirty="0">
                <a:latin typeface="Franklin Gothic Medium Cond" panose="020B0606030402020204" pitchFamily="34" charset="0"/>
              </a:rPr>
              <a:t>Thank You</a:t>
            </a:r>
            <a:endParaRPr lang="en-IN" sz="9600" b="1" dirty="0">
              <a:latin typeface="Franklin Gothic Medium Cond" panose="020B0606030402020204" pitchFamily="34" charset="0"/>
            </a:endParaRPr>
          </a:p>
        </p:txBody>
      </p:sp>
      <p:sp>
        <p:nvSpPr>
          <p:cNvPr id="5" name="TextBox 4">
            <a:extLst>
              <a:ext uri="{FF2B5EF4-FFF2-40B4-BE49-F238E27FC236}">
                <a16:creationId xmlns:a16="http://schemas.microsoft.com/office/drawing/2014/main" id="{2BA59A07-82A3-4F72-BC8D-36473D64BD37}"/>
              </a:ext>
            </a:extLst>
          </p:cNvPr>
          <p:cNvSpPr txBox="1"/>
          <p:nvPr/>
        </p:nvSpPr>
        <p:spPr>
          <a:xfrm>
            <a:off x="64008" y="5789926"/>
            <a:ext cx="2084832" cy="1077218"/>
          </a:xfrm>
          <a:prstGeom prst="rect">
            <a:avLst/>
          </a:prstGeom>
          <a:noFill/>
        </p:spPr>
        <p:txBody>
          <a:bodyPr wrap="square" rtlCol="0">
            <a:spAutoFit/>
          </a:bodyPr>
          <a:lstStyle/>
          <a:p>
            <a:r>
              <a:rPr lang="en-US" sz="3200" dirty="0"/>
              <a:t>Divy_Shah</a:t>
            </a:r>
          </a:p>
          <a:p>
            <a:r>
              <a:rPr lang="en-US" sz="3200" dirty="0" err="1"/>
              <a:t>Anis_Khan</a:t>
            </a:r>
            <a:endParaRPr lang="en-IN" sz="3200" dirty="0"/>
          </a:p>
        </p:txBody>
      </p:sp>
    </p:spTree>
    <p:extLst>
      <p:ext uri="{BB962C8B-B14F-4D97-AF65-F5344CB8AC3E}">
        <p14:creationId xmlns:p14="http://schemas.microsoft.com/office/powerpoint/2010/main" val="10206423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202</Words>
  <Application>Microsoft Office PowerPoint</Application>
  <PresentationFormat>Widescreen</PresentationFormat>
  <Paragraphs>32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Bahnschrift SemiBold</vt:lpstr>
      <vt:lpstr>Calibri</vt:lpstr>
      <vt:lpstr>Calibri Light</vt:lpstr>
      <vt:lpstr>Franklin Gothic Medium Cond</vt:lpstr>
      <vt:lpstr>Office Theme</vt:lpstr>
      <vt:lpstr>Student Performance &amp; Productivity Analysis  using Python.</vt:lpstr>
      <vt:lpstr>About We</vt:lpstr>
      <vt:lpstr>Table of Content</vt:lpstr>
      <vt:lpstr>Libraries</vt:lpstr>
      <vt:lpstr>Dataset Load</vt:lpstr>
      <vt:lpstr>Basic Analysis</vt:lpstr>
      <vt:lpstr>Describe Data</vt:lpstr>
      <vt:lpstr>Show Unique Data</vt:lpstr>
      <vt:lpstr>Charts</vt:lpstr>
      <vt:lpstr>Charts</vt:lpstr>
      <vt:lpstr>Charts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 shah</dc:creator>
  <cp:lastModifiedBy>divy shah</cp:lastModifiedBy>
  <cp:revision>1</cp:revision>
  <dcterms:created xsi:type="dcterms:W3CDTF">2026-02-17T08:29:58Z</dcterms:created>
  <dcterms:modified xsi:type="dcterms:W3CDTF">2026-02-17T09:06:34Z</dcterms:modified>
</cp:coreProperties>
</file>